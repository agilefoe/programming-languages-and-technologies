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Noto Sans Medium" panose="020B0604020202020204" charset="0"/>
      <p:regular r:id="rId12"/>
    </p:embeddedFont>
    <p:embeddedFont>
      <p:font typeface="Noto Sans" panose="020B0502040504020204" pitchFamily="34" charset="0"/>
      <p:regular r:id="rId13"/>
      <p:bold r:id="rId14"/>
      <p:italic r:id="rId15"/>
      <p:boldItalic r:id="rId16"/>
    </p:embeddedFont>
    <p:embeddedFont>
      <p:font typeface="Noto Sans Extra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Noto Sans Bold" panose="020B0802040504020204" pitchFamily="34" charset="0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70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проект: это консольный менеджер контактов на чистом Python. Он решает простую, но частую проблему — хранение и быстрый поиск контактов без сложных внешних баз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представлены пять главных требований к приложению. Подчеркните, что программа покрывает полный жизненный цикл данных: от ввода и проверки до сохранения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Отметьте важное преимущество: программа запускается на любом компьютере, где установлен стандартный Python 3, без необходимости выполнять pip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Прокомментируйте архитектурную цепочку: main() передает команды объекту ContactBook, а тот инкапсулирует бизнес-логику и обращается к файлу contacts.json.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Пройдитесь по каждому пункту меню. Укажите, что консольный интерфейс интуитивен: пользователь выбирает номер действия от 1 до 5, либо 0 для выхода.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правила валидации. Если пользователь опечатался в email или ввел слишком короткий телефон, программа вежливо попросит повторить ввод, не ломая структуру 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Обратите внимание аудитории на читаемость формата JSON. Файл можно при необходимости открыть в любом текстовом редакторе, при этом программа корректно парсит данные при каждом запуске.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 работы приложения: цель достигнута, программа протестирована, код чист и структурирован, функциональность полностью соответствует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Поблагодарите слушателей за внимание, перечислите ключевые выводы по учебной практике и пригласите комиссию к вопросам и обсуждению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177518"/>
            <a:ext cx="6095848" cy="189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l"/>
            <a:r>
              <a:rPr lang="ru-RU" sz="5400" b="1" i="0" dirty="0" smtClean="0">
                <a:solidFill>
                  <a:srgbClr val="F0F6FC"/>
                </a:solidFill>
                <a:effectLst/>
                <a:latin typeface="Mona Sans VF"/>
              </a:rPr>
              <a:t>СРО №15 </a:t>
            </a:r>
          </a:p>
          <a:p>
            <a:pPr algn="l"/>
            <a:r>
              <a:rPr lang="ru-RU" sz="4800" b="1" dirty="0" smtClean="0">
                <a:solidFill>
                  <a:srgbClr val="F0F6FC"/>
                </a:solidFill>
                <a:latin typeface="Mona Sans VF"/>
              </a:rPr>
              <a:t>м</a:t>
            </a:r>
            <a:r>
              <a:rPr lang="ru-RU" sz="4800" b="1" i="0" dirty="0" smtClean="0">
                <a:solidFill>
                  <a:srgbClr val="F0F6FC"/>
                </a:solidFill>
                <a:effectLst/>
                <a:latin typeface="Mona Sans VF"/>
              </a:rPr>
              <a:t>енеджер контактов</a:t>
            </a:r>
            <a:endParaRPr lang="ru-RU" sz="4800" b="1" i="0" dirty="0">
              <a:solidFill>
                <a:srgbClr val="F0F6FC"/>
              </a:solidFill>
              <a:effectLst/>
              <a:latin typeface="Mona Sans VF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585" y="4370696"/>
            <a:ext cx="670543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ru-RU" sz="1500" kern="100" spc="3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Мутали </a:t>
            </a:r>
            <a:r>
              <a:rPr lang="ru-RU" sz="1500" kern="100" spc="3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Мирас</a:t>
            </a:r>
            <a:r>
              <a:rPr lang="ru-RU" sz="1500" kern="100" spc="3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ИС25-22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304800"/>
            <a:ext cx="4876678" cy="6248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DC5A0A-46CB-4DCF-B29B-C21C124C1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031" y="6553200"/>
            <a:ext cx="1273664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696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Цель: консольное приложение для контактов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511127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5" name="Text 3"/>
          <p:cNvSpPr/>
          <p:nvPr/>
        </p:nvSpPr>
        <p:spPr>
          <a:xfrm>
            <a:off x="680227" y="2593677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5" y="2917527"/>
            <a:ext cx="1950592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254077"/>
            <a:ext cx="195069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CRUD-операции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040684"/>
            <a:ext cx="195069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Добавление, редактирование и удаление записей по уникальному ID.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64969" y="2511127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0" name="Text 8"/>
          <p:cNvSpPr/>
          <p:nvPr/>
        </p:nvSpPr>
        <p:spPr>
          <a:xfrm>
            <a:off x="2935611" y="2593677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64969" y="2917527"/>
            <a:ext cx="1950592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2" name="Text 10"/>
          <p:cNvSpPr/>
          <p:nvPr/>
        </p:nvSpPr>
        <p:spPr>
          <a:xfrm>
            <a:off x="2864969" y="3254077"/>
            <a:ext cx="19506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</a:t>
            </a:r>
            <a:r>
              <a:rPr lang="en-US" sz="2000" dirty="0" err="1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оиск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64969" y="3710484"/>
            <a:ext cx="195069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Поиск совпадений по фрагментам имени, цифрам телефона и email.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353" y="2511127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5" name="Text 13"/>
          <p:cNvSpPr/>
          <p:nvPr/>
        </p:nvSpPr>
        <p:spPr>
          <a:xfrm>
            <a:off x="5190995" y="2593677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353" y="2917527"/>
            <a:ext cx="1950889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353" y="3254077"/>
            <a:ext cx="195088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Группировка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353" y="3710484"/>
            <a:ext cx="195088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Разделение по категориям: семья, коллеги, друзья, учёба.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75936" y="2511127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20" name="Text 18"/>
          <p:cNvSpPr/>
          <p:nvPr/>
        </p:nvSpPr>
        <p:spPr>
          <a:xfrm>
            <a:off x="7446578" y="2593677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75936" y="2917527"/>
            <a:ext cx="1950592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22" name="Text 20"/>
          <p:cNvSpPr/>
          <p:nvPr/>
        </p:nvSpPr>
        <p:spPr>
          <a:xfrm>
            <a:off x="7375936" y="3254077"/>
            <a:ext cx="19506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Валидация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75936" y="3710484"/>
            <a:ext cx="1950691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Контроль корректности номеров телефонов и формата почтовых адресов.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31320" y="2511127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25" name="Text 23"/>
          <p:cNvSpPr/>
          <p:nvPr/>
        </p:nvSpPr>
        <p:spPr>
          <a:xfrm>
            <a:off x="9701962" y="2593677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31320" y="2917527"/>
            <a:ext cx="1950691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27" name="Text 25"/>
          <p:cNvSpPr/>
          <p:nvPr/>
        </p:nvSpPr>
        <p:spPr>
          <a:xfrm>
            <a:off x="9631320" y="3254077"/>
            <a:ext cx="19507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Хранение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31320" y="3710484"/>
            <a:ext cx="195079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Надёжное сохранение в файл contacts.json между сессиями работы.</a:t>
            </a:r>
            <a:endParaRPr lang="en-US" sz="15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22770D4-59EC-407C-BB3A-555BA24A9B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8"/>
          <a:stretch/>
        </p:blipFill>
        <p:spPr>
          <a:xfrm>
            <a:off x="10927558" y="6553200"/>
            <a:ext cx="1116806" cy="304799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CC05A9F-1E01-4B30-AB90-EAD6332EC281}"/>
              </a:ext>
            </a:extLst>
          </p:cNvPr>
          <p:cNvSpPr/>
          <p:nvPr/>
        </p:nvSpPr>
        <p:spPr>
          <a:xfrm>
            <a:off x="12018169" y="6553200"/>
            <a:ext cx="173831" cy="30479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696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Python и </a:t>
            </a:r>
            <a:r>
              <a:rPr lang="en-US" sz="3000" kern="100" spc="-15" dirty="0" err="1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три</a:t>
            </a: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 </a:t>
            </a:r>
            <a:r>
              <a:rPr lang="en-US" sz="3000" kern="100" spc="-15" dirty="0" err="1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модуля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835249"/>
            <a:ext cx="3454314" cy="3016250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829" y="2059880"/>
            <a:ext cx="323206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json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1829" y="2517874"/>
            <a:ext cx="30098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json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1829" y="2974280"/>
            <a:ext cx="300982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Сериализация и десериализация структуры данных. Сохраняет контакты в структурированный текстовый формат и читает их обратно.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1835249"/>
            <a:ext cx="3454314" cy="3016250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935" y="2059880"/>
            <a:ext cx="323206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0935" y="2517874"/>
            <a:ext cx="30098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0935" y="2974280"/>
            <a:ext cx="300982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Взаимодействие с файловой системой. Проверяет существование файла хранилища перед чтением, защищая от аварийного завершения.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7797" y="1835249"/>
            <a:ext cx="3454314" cy="3016250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0041" y="2059880"/>
            <a:ext cx="323206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50041" y="2517874"/>
            <a:ext cx="30098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0041" y="2974280"/>
            <a:ext cx="300982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Регулярные выражения для фильтрации. Проверяет маску email и </a:t>
            </a:r>
            <a:r>
              <a:rPr lang="en-US" sz="1500" dirty="0" err="1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следит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за форматом и числом цифр в номере телефона.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5054699"/>
            <a:ext cx="38099" cy="764381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879" y="5113119"/>
            <a:ext cx="10731232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Базовый стек проекта:</a:t>
            </a:r>
            <a:r>
              <a:rPr lang="en-US" sz="18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объектно-ориентированное программирование (классы и методы), словари, списки, циклы обработки пользовательского ввода и блоки try-except.</a:t>
            </a:r>
            <a:endParaRPr lang="en-US" sz="1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9847B30-DC91-4F2F-BD33-7D2D15EB9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482" y="6592888"/>
            <a:ext cx="1196181" cy="248218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BCFDE0F-CA7B-4515-BC71-2ED288DE406F}"/>
              </a:ext>
            </a:extLst>
          </p:cNvPr>
          <p:cNvSpPr/>
          <p:nvPr/>
        </p:nvSpPr>
        <p:spPr>
          <a:xfrm>
            <a:off x="11177588" y="6557963"/>
            <a:ext cx="885825" cy="4571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696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Вся логика живёт в классе ContactBook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37705"/>
            <a:ext cx="8068664" cy="2920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679" y="1880521"/>
            <a:ext cx="4978248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-7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main()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98679" y="2201251"/>
            <a:ext cx="4978248" cy="23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Консольное меню, ввод пользователя, отображение статусов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98679" y="2768076"/>
            <a:ext cx="4978248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-7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ContactBook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98679" y="3088805"/>
            <a:ext cx="4978248" cy="23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Методы add, edit, delete, find, validate и управление списком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98679" y="3647561"/>
            <a:ext cx="4978248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-7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contacts.json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98679" y="3968291"/>
            <a:ext cx="4978248" cy="23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Постоянное дисковое хранилище в структурированном виде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9585" y="4802128"/>
            <a:ext cx="525766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32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Уровень представления (UI)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585" y="5190232"/>
            <a:ext cx="525766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 </a:t>
            </a: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содержит бесконечный цикл диалога, обрабатывает пользовательский выбор и выводит сообщения об ошибках.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24442" y="4802128"/>
            <a:ext cx="525766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32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Уровень сервиса (Data &amp; I/O)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24442" y="5190232"/>
            <a:ext cx="525766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Класс </a:t>
            </a: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ContactBook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изолирует работу со словарями и файлом, предоставляя чистые методы </a:t>
            </a: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save_to_file()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 </a:t>
            </a: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load_from_file()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89498" y="4787205"/>
            <a:ext cx="12700" cy="1229320"/>
          </a:xfrm>
          <a:prstGeom prst="rect">
            <a:avLst/>
          </a:prstGeom>
          <a:solidFill>
            <a:srgbClr val="40456A"/>
          </a:solidFill>
          <a:ln/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CE81E86-EB75-4396-9D75-177AC700F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482" y="6592888"/>
            <a:ext cx="1196181" cy="248218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B1B46E8-F9A8-476B-890B-C9DB241DCCB5}"/>
              </a:ext>
            </a:extLst>
          </p:cNvPr>
          <p:cNvSpPr/>
          <p:nvPr/>
        </p:nvSpPr>
        <p:spPr>
          <a:xfrm>
            <a:off x="11177588" y="6557963"/>
            <a:ext cx="885825" cy="4571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696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Пять действий через консольное меню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85737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4" name="Text 2"/>
          <p:cNvSpPr/>
          <p:nvPr/>
        </p:nvSpPr>
        <p:spPr>
          <a:xfrm>
            <a:off x="680227" y="1939925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0272" y="1838325"/>
            <a:ext cx="10451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Просмотр всех контактов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67652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7" name="Text 5"/>
          <p:cNvSpPr/>
          <p:nvPr/>
        </p:nvSpPr>
        <p:spPr>
          <a:xfrm>
            <a:off x="680227" y="2759075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0272" y="2657475"/>
            <a:ext cx="10451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Добавление нового контакта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585" y="349567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0" name="Text 8"/>
          <p:cNvSpPr/>
          <p:nvPr/>
        </p:nvSpPr>
        <p:spPr>
          <a:xfrm>
            <a:off x="680227" y="3578225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0272" y="3476625"/>
            <a:ext cx="10451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Редактирование данных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9585" y="431482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3" name="Text 11"/>
          <p:cNvSpPr/>
          <p:nvPr/>
        </p:nvSpPr>
        <p:spPr>
          <a:xfrm>
            <a:off x="680227" y="4397375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0272" y="4295775"/>
            <a:ext cx="10451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Удаление по идентификатору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9585" y="513397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0227" y="5216525"/>
            <a:ext cx="7984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0272" y="5114925"/>
            <a:ext cx="10451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Поиск по имени, телефону или почте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9585" y="2390775"/>
            <a:ext cx="10972526" cy="190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3209925"/>
            <a:ext cx="10972526" cy="190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4029075"/>
            <a:ext cx="10972526" cy="190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4848225"/>
            <a:ext cx="10972526" cy="19050"/>
          </a:xfrm>
          <a:prstGeom prst="rect">
            <a:avLst/>
          </a:prstGeom>
          <a:solidFill>
            <a:srgbClr val="40456A"/>
          </a:solidFill>
          <a:ln/>
        </p:spPr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C3403FA-F311-4F71-A33E-EBF3523137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8"/>
          <a:stretch/>
        </p:blipFill>
        <p:spPr>
          <a:xfrm>
            <a:off x="10927558" y="6553200"/>
            <a:ext cx="1116806" cy="304799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A1896B0-E453-4049-9D3A-EF06F9265BFD}"/>
              </a:ext>
            </a:extLst>
          </p:cNvPr>
          <p:cNvSpPr/>
          <p:nvPr/>
        </p:nvSpPr>
        <p:spPr>
          <a:xfrm>
            <a:off x="12018169" y="6553200"/>
            <a:ext cx="173831" cy="30479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696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Программа проверяет данные до сохранения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625302"/>
            <a:ext cx="5333867" cy="2187575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829" y="1849934"/>
            <a:ext cx="51116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name.strip() != ""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1829" y="2307927"/>
            <a:ext cx="48893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Имя контакта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1829" y="2764334"/>
            <a:ext cx="488937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Имя обязательно для заполнения и не может состоять только из пробелов или оставаться пустым.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1625302"/>
            <a:ext cx="5333867" cy="2187575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0488" y="1849934"/>
            <a:ext cx="51116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re.match(r'^\+?\d{10,15}$', phone)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0488" y="2307927"/>
            <a:ext cx="48893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Номер телефона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0488" y="2764334"/>
            <a:ext cx="48893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Допускается опциональный знак «+» и строго от 10 до 15 цифровых символов.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4117677"/>
            <a:ext cx="5333867" cy="1911350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829" y="4342309"/>
            <a:ext cx="51116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re.match(r'^[\w\.-]+@[\w\.-]+\.\w+$', email)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829" y="4800302"/>
            <a:ext cx="48893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Электронная почта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1829" y="5256709"/>
            <a:ext cx="48893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 наличия имени ящика, символа @ и доменного имени первого/второго уровня.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8244" y="4117677"/>
            <a:ext cx="5333867" cy="1911350"/>
          </a:xfrm>
          <a:prstGeom prst="rect">
            <a:avLst/>
          </a:prstGeom>
          <a:noFill/>
          <a:ln w="19050">
            <a:solidFill>
              <a:srgbClr val="404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0488" y="4342309"/>
            <a:ext cx="51116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group in PRESET_GROUPS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0488" y="4800302"/>
            <a:ext cx="48893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Фиксированные категории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70488" y="5256709"/>
            <a:ext cx="48893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Пять предустановленных групп: </a:t>
            </a: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Семья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Друзья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Работа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Учёба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Другое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FC0025D-1CC4-462A-9334-BC0D2CED6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482" y="6592888"/>
            <a:ext cx="1196181" cy="248218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DF459E1-25AE-4AC7-985A-E55451FE8C0D}"/>
              </a:ext>
            </a:extLst>
          </p:cNvPr>
          <p:cNvSpPr/>
          <p:nvPr/>
        </p:nvSpPr>
        <p:spPr>
          <a:xfrm>
            <a:off x="11177588" y="6557963"/>
            <a:ext cx="885825" cy="4571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696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Контакты хранятся в contacts.json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395538"/>
            <a:ext cx="6133947" cy="2657475"/>
          </a:xfrm>
          <a:prstGeom prst="rect">
            <a:avLst/>
          </a:prstGeom>
          <a:solidFill>
            <a:srgbClr val="1E0E3F"/>
          </a:solidFill>
          <a:ln w="19050">
            <a:solidFill>
              <a:srgbClr val="404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829" y="2569369"/>
            <a:ext cx="5689458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"Алексей Смирнов",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"phone": "+79991234567",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"alex@example.com",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"group": "Работа"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85" y="5251609"/>
            <a:ext cx="613394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Формат хранения единичной записи в файле contacts.json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10305" y="2348309"/>
            <a:ext cx="377180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Структурированные поля: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уникальный ID, имя, телефон, email и категория.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810305" y="3348434"/>
            <a:ext cx="377180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Автосохранение: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синхронизация с диском при любом добавлении, правке или удалении.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810305" y="4624784"/>
            <a:ext cx="377180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3F1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Восстановление сессии: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при следующем старте файл автоматически считывается с диска.</a:t>
            </a:r>
            <a:endParaRPr lang="en-US" sz="15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2625745-A51A-481D-816D-2718977A2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482" y="6592888"/>
            <a:ext cx="1196181" cy="248218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D17CF89-4182-42C6-9C4A-0C6548CB036B}"/>
              </a:ext>
            </a:extLst>
          </p:cNvPr>
          <p:cNvSpPr/>
          <p:nvPr/>
        </p:nvSpPr>
        <p:spPr>
          <a:xfrm>
            <a:off x="11177588" y="6557963"/>
            <a:ext cx="885825" cy="4571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48378"/>
            <a:ext cx="65022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Результат: рабочее консольное приложение</a:t>
            </a:r>
            <a:endParaRPr lang="en-US" sz="30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45C3BD-A083-415B-ACD1-62F37B8CA8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8"/>
          <a:stretch/>
        </p:blipFill>
        <p:spPr>
          <a:xfrm>
            <a:off x="10927558" y="6553200"/>
            <a:ext cx="1116806" cy="304799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D03D83-D448-4633-A035-7734F68F76CD}"/>
              </a:ext>
            </a:extLst>
          </p:cNvPr>
          <p:cNvSpPr/>
          <p:nvPr/>
        </p:nvSpPr>
        <p:spPr>
          <a:xfrm>
            <a:off x="12018169" y="6553200"/>
            <a:ext cx="173831" cy="304799"/>
          </a:xfrm>
          <a:prstGeom prst="rect">
            <a:avLst/>
          </a:prstGeom>
          <a:solidFill>
            <a:srgbClr val="1E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2" y="1267527"/>
            <a:ext cx="10929937" cy="5285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11581"/>
            <a:ext cx="10972526" cy="139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kern="100" spc="-56" dirty="0">
                <a:solidFill>
                  <a:srgbClr val="F8ED43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Заключение: навыки закреплены, планы есть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09585" y="2436217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40" dirty="0">
                <a:solidFill>
                  <a:srgbClr val="F8ED4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Освоенные навыки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2890242"/>
            <a:ext cx="5257668" cy="235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Объектно-ориентированное программирование (ООП) на практике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Работа с форматом JSON и файловой системой через модуль </a:t>
            </a: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Регулярные выражения (модуль </a:t>
            </a: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</a:t>
            </a: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для строгой валидации ввода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Построение надёжного CLI-интерфейса и обработка исключений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504537"/>
            <a:ext cx="1158211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kern="100" spc="36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Спасибо </a:t>
            </a:r>
            <a:r>
              <a:rPr lang="en-US" sz="1800" kern="100" spc="36" dirty="0" err="1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</a:t>
            </a:r>
            <a:r>
              <a:rPr lang="en-US" sz="1800" kern="100" spc="36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800" kern="100" spc="36" dirty="0" err="1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внимание</a:t>
            </a:r>
            <a:r>
              <a:rPr lang="kk-KZ" kern="100" spc="36" dirty="0">
                <a:solidFill>
                  <a:srgbClr val="F8ED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!</a:t>
            </a:r>
            <a:endParaRPr lang="en-US" sz="1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8687BC-8A27-4BCF-865D-786C44B1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031" y="6553200"/>
            <a:ext cx="1273664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740</Words>
  <Application>Microsoft Office PowerPoint</Application>
  <PresentationFormat>Широкоэкранный</PresentationFormat>
  <Paragraphs>105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Noto Sans Medium</vt:lpstr>
      <vt:lpstr>Noto Sans</vt:lpstr>
      <vt:lpstr>Arial</vt:lpstr>
      <vt:lpstr>Noto Sans ExtraBold</vt:lpstr>
      <vt:lpstr>Calibri</vt:lpstr>
      <vt:lpstr>Mona Sans VF</vt:lpstr>
      <vt:lpstr>Consolas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Student</cp:lastModifiedBy>
  <cp:revision>5</cp:revision>
  <dcterms:created xsi:type="dcterms:W3CDTF">2026-10-21T06:15:24Z</dcterms:created>
  <dcterms:modified xsi:type="dcterms:W3CDTF">2026-10-21T09:08:23Z</dcterms:modified>
</cp:coreProperties>
</file>